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D0B1B-F5DB-4418-A21E-63B66581EFB5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E8D13E-A4EF-4C46-8141-9599F55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624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5EC6-38FB-8451-ACE0-1675D9C42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245E52-A616-2210-5299-8C4C99E3F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A96BC-C871-869F-7D10-87E32181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59FF0-0C1E-8208-9ACE-5455012C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4A16A-5E5E-3752-1AD0-FAE78A19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653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A989B-17C1-06C4-DF36-29FF6A95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DB592-A6E0-9BCE-DD47-1F30FC8B6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22C72-AE5E-DA39-7206-D1F34D11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8EC41-2FCF-F33F-EC35-330E02BF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32089-4EBA-2265-48DD-868AC403E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028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A32D8-DE11-560F-62A3-58772A38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5A376-AE23-1E7B-BA87-020520D5A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6F953-F259-BFB9-AFAA-840D1ABC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831B9-B2FA-EEBE-B5FC-8FD73352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3EF86-FA28-A95C-8F1C-C29A940A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43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D2DA-212D-B0BA-6427-92BC2353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75FB-D629-75D3-73B2-BA0EBA631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97DAC-353E-4E32-A444-E06F3FE9A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BA715-51B5-CC7E-8714-2C130252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1690E-2649-CB41-103D-85D92A149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50F3F-3AB3-DBE8-E579-7B34311F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341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14B9-3681-5BD0-507C-48E316523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B1A13-30FB-8A2C-5713-B10F1CCAC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21229-EA7F-8555-7A65-3DE011D11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9BE568-12E8-DE88-7BAE-1473EE164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E8C97-0DC0-D7E8-27FF-202D86F66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2C2558-615D-6A98-88FE-7C6A4BC0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279B6-40B6-D02A-F15E-236C9812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EEE7A-C178-934A-676A-EB15502E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926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9DED-919D-6227-1064-D756ED80B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48694-2FA0-BE1A-0E6D-D64FC80B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39B59-905C-A1DD-AD24-978629C0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09B0F-E7F8-E150-E5FC-F28A5CCF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62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948A0-527F-D918-0008-731C231B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4FD402-00C0-B00F-18DD-265D03BDB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02E8E-C64B-56AC-6380-189B1195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30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6200-3904-84FC-ADFD-0A225E15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BA992-AD07-7720-6B8E-80E0C5659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613E1-C6B8-C86E-5824-CD3FC87D4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41AC5-6096-CCB4-CB2F-34266E9A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93EB7-CDE2-5B4A-C775-92AE28F4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BB09F-63BA-0666-0605-F1467E67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53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EFE6-FB8F-306E-B652-A357632C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E6D1A3-A448-DC38-9446-9273CABC2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D1246-225C-E647-E11D-6627E2391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8B0E3-B7D9-A97E-F7EF-DD12C02F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D5A4A-28C2-AAD6-7722-DAD92870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ED845-7A3A-748F-A65F-352FE1CE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70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8C704-C2CF-13C6-0E5B-2BD4B431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E042B-9660-611E-7D41-C0DF06379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0D9F2-5F3E-934D-0CBB-7678C699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B6987-30E6-4552-74FB-411565007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13A7F-9122-CE3D-5536-338D0047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619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E6B9F3-36AB-6E9B-1A7D-41194351D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BA4EE-0FF4-D469-B2B9-EF4C6D2F1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6BB2D-5FF1-1F2E-EBC9-53E38D361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FD067-C002-4110-A340-CD5169FD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13F17-B827-52A0-81A6-41A026F9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73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44DE2-F801-9A6A-D883-3BE18AB37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07174-72B7-ECFA-9066-BCEC025AE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78812-AF38-1B86-8105-22C071987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31A9A-D2D3-4407-83AD-D122243BD43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8FB7F-ED3F-5463-19DE-7A4BAC1B0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69122-3A4C-18C5-945C-D0010CED8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3B83C-A034-42C4-AB10-3528719C7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039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BCC32A-D663-701B-05F3-0DDA56259FF4}"/>
              </a:ext>
            </a:extLst>
          </p:cNvPr>
          <p:cNvSpPr txBox="1"/>
          <p:nvPr/>
        </p:nvSpPr>
        <p:spPr>
          <a:xfrm>
            <a:off x="250367" y="2209807"/>
            <a:ext cx="48441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1-What is the total number of orders placed on the platform?</a:t>
            </a:r>
          </a:p>
          <a:p>
            <a:endParaRPr lang="en-US" sz="1600" dirty="0">
              <a:solidFill>
                <a:schemeClr val="accent6"/>
              </a:solidFill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count(*) as 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Total_Orders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from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2B4C59-773A-4BE5-14FC-D5D014556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29" y="2478164"/>
            <a:ext cx="3614057" cy="1037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F3FECE-A60C-2FA6-8931-7CFA52CE7D80}"/>
              </a:ext>
            </a:extLst>
          </p:cNvPr>
          <p:cNvSpPr txBox="1"/>
          <p:nvPr/>
        </p:nvSpPr>
        <p:spPr>
          <a:xfrm>
            <a:off x="283028" y="3875313"/>
            <a:ext cx="5486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2- What is the revenue generated in INR(Indian National Rupees) Millions?</a:t>
            </a:r>
          </a:p>
          <a:p>
            <a:endParaRPr lang="en-US" sz="1600" dirty="0"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ROUND(SUM(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)::NUMERIC / 1000000, 2) || ' INR Million' AS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Total_revenue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FROM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;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6C1D42-A514-6BEB-7FC5-4C4178506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38599"/>
            <a:ext cx="3516085" cy="86286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B2E5A2-FF99-3DB7-A7F9-51C8D983CC65}"/>
              </a:ext>
            </a:extLst>
          </p:cNvPr>
          <p:cNvSpPr/>
          <p:nvPr/>
        </p:nvSpPr>
        <p:spPr>
          <a:xfrm>
            <a:off x="1812472" y="137002"/>
            <a:ext cx="8806543" cy="10059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Arial Black" panose="020B0A04020102020204" pitchFamily="34" charset="0"/>
              </a:rPr>
              <a:t>Swiggy Business Data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809D4-5B10-2D51-E59A-8D6655159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4" y="277223"/>
            <a:ext cx="2198915" cy="72809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3E44E0D-21D1-8061-E329-792EBB8E8F7E}"/>
              </a:ext>
            </a:extLst>
          </p:cNvPr>
          <p:cNvSpPr/>
          <p:nvPr/>
        </p:nvSpPr>
        <p:spPr>
          <a:xfrm>
            <a:off x="250371" y="1331251"/>
            <a:ext cx="11691258" cy="72809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Bahnschrift SemiBold" panose="020B0502040204020203" pitchFamily="34" charset="0"/>
              </a:rPr>
              <a:t>KPI(Key Performance Indicator)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133389-186B-9BCD-01F9-AB9E520685D5}"/>
              </a:ext>
            </a:extLst>
          </p:cNvPr>
          <p:cNvSpPr txBox="1"/>
          <p:nvPr/>
        </p:nvSpPr>
        <p:spPr>
          <a:xfrm>
            <a:off x="283028" y="5423981"/>
            <a:ext cx="76635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3- Average Dish Price</a:t>
            </a:r>
          </a:p>
          <a:p>
            <a:endParaRPr lang="en-US" sz="1600" dirty="0"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ROUND(avg(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)::NUMERIC, 2) || ' INR' AS 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Average_Dish_Price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FROM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;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A4B43B-FC2C-56C4-BFCB-FBC446D9B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057" y="5423981"/>
            <a:ext cx="3614056" cy="132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1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1E23D4-D7C3-0DD2-DA2C-95F72DFBD8FD}"/>
              </a:ext>
            </a:extLst>
          </p:cNvPr>
          <p:cNvSpPr txBox="1"/>
          <p:nvPr/>
        </p:nvSpPr>
        <p:spPr>
          <a:xfrm>
            <a:off x="206828" y="185058"/>
            <a:ext cx="70321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4-Average Rating</a:t>
            </a:r>
          </a:p>
          <a:p>
            <a:endParaRPr lang="en-US" sz="1600" dirty="0"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round(avg(rating),2) as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Avg_Rating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from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674264-A75D-55C0-F2C7-82E6FD5EC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785" y="185058"/>
            <a:ext cx="2481985" cy="9687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2AC09E-2C9C-D66D-DCFE-BAA5D3152BEE}"/>
              </a:ext>
            </a:extLst>
          </p:cNvPr>
          <p:cNvSpPr txBox="1"/>
          <p:nvPr/>
        </p:nvSpPr>
        <p:spPr>
          <a:xfrm>
            <a:off x="239484" y="1458685"/>
            <a:ext cx="6727371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Deep-Dive Business Analysis</a:t>
            </a:r>
          </a:p>
          <a:p>
            <a:r>
              <a:rPr lang="en-IN" dirty="0">
                <a:latin typeface="Bahnschrift SemiBold" panose="020B0502040204020203" pitchFamily="34" charset="0"/>
              </a:rPr>
              <a:t>5-Monthly order trends</a:t>
            </a:r>
          </a:p>
          <a:p>
            <a:endParaRPr lang="en-IN" sz="1600" dirty="0"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d.year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d.month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d.month_name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sum(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 as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Total_Revenue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from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join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dim_date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d on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f.date_id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=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d.date_id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group by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d.year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d.month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d.month_name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sum(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asc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B3693B-649A-D15D-F1D8-356517051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9" y="1676398"/>
            <a:ext cx="4789715" cy="28302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F4F931-9496-D470-679F-D7E7E46EC215}"/>
              </a:ext>
            </a:extLst>
          </p:cNvPr>
          <p:cNvSpPr txBox="1"/>
          <p:nvPr/>
        </p:nvSpPr>
        <p:spPr>
          <a:xfrm>
            <a:off x="206828" y="4833720"/>
            <a:ext cx="672737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6-Quarterly order trends</a:t>
            </a:r>
          </a:p>
          <a:p>
            <a:endParaRPr lang="en-IN" sz="1600" dirty="0"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</a:t>
            </a:r>
          </a:p>
          <a:p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d.year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d.quarter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count(*) as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from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 join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dim_date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d on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f.date_id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=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d.date_id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group by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d.year,d.quarterorder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by count(*)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asc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79CCCE-C5C3-C5FA-F29C-993E7F5D4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198" y="4920340"/>
            <a:ext cx="4038601" cy="172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3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FA80D9-83B3-3FC7-F94E-53A992405E15}"/>
              </a:ext>
            </a:extLst>
          </p:cNvPr>
          <p:cNvSpPr txBox="1"/>
          <p:nvPr/>
        </p:nvSpPr>
        <p:spPr>
          <a:xfrm>
            <a:off x="293914" y="239485"/>
            <a:ext cx="5159829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7-Year-wise growth</a:t>
            </a:r>
          </a:p>
          <a:p>
            <a:endParaRPr lang="en-IN" sz="1600" dirty="0"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</a:t>
            </a:r>
          </a:p>
          <a:p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d.year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sum(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 as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Total_Revenuefrom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 join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dim_date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d on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f.date_id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=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d.date_id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group by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d.year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sum(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4BADA6-B5E1-EBB4-9ABE-068300639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686" y="278973"/>
            <a:ext cx="3688562" cy="1941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29982A-B437-127E-40A3-ABBF55152A59}"/>
              </a:ext>
            </a:extLst>
          </p:cNvPr>
          <p:cNvSpPr txBox="1"/>
          <p:nvPr/>
        </p:nvSpPr>
        <p:spPr>
          <a:xfrm>
            <a:off x="293914" y="2600229"/>
            <a:ext cx="805542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8-Orders by Day of week (Mon-Sun)</a:t>
            </a:r>
          </a:p>
          <a:p>
            <a:endParaRPr lang="en-US" sz="1600" dirty="0"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   TRIM(TO_CHAR(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d.full_date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 'Day')) AS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day_name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COUNT(*) AS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total_orders</a:t>
            </a:r>
            <a:endParaRPr lang="en-US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FROM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 join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dim_date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d   on 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f.date_id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=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d.date_id</a:t>
            </a:r>
            <a:endParaRPr lang="en-US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GROUP BY  TRIM(TO_CHAR(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d.full_date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 'Day’)),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EXTRACT(DOW FROM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d.full_date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  EXTRACT(DOW FROM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d.full_date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);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493C01-029F-36CD-5717-131A8421B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323" y="2273106"/>
            <a:ext cx="3688562" cy="21718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47FF8E-C72E-439F-E13B-A03DC009E73F}"/>
              </a:ext>
            </a:extLst>
          </p:cNvPr>
          <p:cNvSpPr txBox="1"/>
          <p:nvPr/>
        </p:nvSpPr>
        <p:spPr>
          <a:xfrm>
            <a:off x="195943" y="4714752"/>
            <a:ext cx="699951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9-Top 10 cities by order volume</a:t>
            </a:r>
          </a:p>
          <a:p>
            <a:r>
              <a:rPr lang="en-IN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As per </a:t>
            </a:r>
            <a:r>
              <a:rPr lang="en-IN" dirty="0" err="1">
                <a:solidFill>
                  <a:schemeClr val="accent6"/>
                </a:solidFill>
                <a:latin typeface="Bahnschrift SemiBold" panose="020B0502040204020203" pitchFamily="34" charset="0"/>
              </a:rPr>
              <a:t>Total_order</a:t>
            </a:r>
            <a:endParaRPr lang="en-IN" dirty="0">
              <a:solidFill>
                <a:schemeClr val="accent6"/>
              </a:solidFill>
              <a:latin typeface="Bahnschrift SemiBold" panose="020B0502040204020203" pitchFamily="34" charset="0"/>
            </a:endParaRPr>
          </a:p>
          <a:p>
            <a:endParaRPr lang="en-IN" sz="1600" dirty="0"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l.city,count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(*) as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from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 join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dim_location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l</a:t>
            </a:r>
          </a:p>
          <a:p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onl.location_id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=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f.location_id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group by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l.city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count(*)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desc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limit 10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6F1AD3-FDDB-F1F3-8191-5166A7988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826" y="4497339"/>
            <a:ext cx="3688562" cy="236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7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D1F04D-B725-768D-6EC7-C7D3DBEF7658}"/>
              </a:ext>
            </a:extLst>
          </p:cNvPr>
          <p:cNvSpPr txBox="1"/>
          <p:nvPr/>
        </p:nvSpPr>
        <p:spPr>
          <a:xfrm>
            <a:off x="304797" y="174171"/>
            <a:ext cx="805542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As per Revenue</a:t>
            </a:r>
          </a:p>
          <a:p>
            <a:endParaRPr lang="en-IN" sz="1600" dirty="0"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l.city,sum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(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f.price_inr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 as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Total_revenue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from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fact_food_orders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fjoin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dim_location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l 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l.location_id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=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f.location_id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group by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l.city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sum(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f.price_inr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desc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limit 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4D057A-527A-5DBB-A22F-D63C4A1C1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728" y="88809"/>
            <a:ext cx="3149762" cy="19920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7EDE77-EBAE-7E8E-9864-E510D02558AB}"/>
              </a:ext>
            </a:extLst>
          </p:cNvPr>
          <p:cNvSpPr txBox="1"/>
          <p:nvPr/>
        </p:nvSpPr>
        <p:spPr>
          <a:xfrm>
            <a:off x="272143" y="2188022"/>
            <a:ext cx="790302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10-Revenue contribution by states</a:t>
            </a:r>
          </a:p>
          <a:p>
            <a:endParaRPr lang="en-IN" sz="1600" dirty="0"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l.state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sum(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f.price_inr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 as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Total_revenue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from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join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dim_location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lonl.location_id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=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f.location_id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group by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l.state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sum(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f.price_inr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desc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8CC6F7-7CCA-3D93-D8A6-765694190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861" y="2183978"/>
            <a:ext cx="3130711" cy="2394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33021A-BC21-E2E0-CCBB-09B78D009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994" y="2164224"/>
            <a:ext cx="3162463" cy="23947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5693C7-B4E6-36B9-956B-6D917E057D67}"/>
              </a:ext>
            </a:extLst>
          </p:cNvPr>
          <p:cNvSpPr txBox="1"/>
          <p:nvPr/>
        </p:nvSpPr>
        <p:spPr>
          <a:xfrm>
            <a:off x="326569" y="4429304"/>
            <a:ext cx="690154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  <a:latin typeface="Bahnschrift SemiBold" panose="020B0502040204020203" pitchFamily="34" charset="0"/>
              </a:rPr>
              <a:t>Food Performance</a:t>
            </a:r>
          </a:p>
          <a:p>
            <a:r>
              <a:rPr lang="en-IN" dirty="0">
                <a:latin typeface="Bahnschrift SemiBold" panose="020B0502040204020203" pitchFamily="34" charset="0"/>
              </a:rPr>
              <a:t>11-Top 10 restaurants by orders</a:t>
            </a:r>
          </a:p>
          <a:p>
            <a:endParaRPr lang="en-IN" sz="1600" dirty="0"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r.restaurant_name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count(*) as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from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join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dim_restaurant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r</a:t>
            </a:r>
          </a:p>
          <a:p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onr.restaurant_id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=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f.restaurant_id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group by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r.restaurant_name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count(*)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desc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limit 10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88A260-4067-E2D3-4121-93040A7CF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242" y="4767946"/>
            <a:ext cx="5045358" cy="199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20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BFC49E2-2831-E996-AF97-FB46277D53C7}"/>
              </a:ext>
            </a:extLst>
          </p:cNvPr>
          <p:cNvSpPr txBox="1"/>
          <p:nvPr/>
        </p:nvSpPr>
        <p:spPr>
          <a:xfrm>
            <a:off x="326569" y="108857"/>
            <a:ext cx="682534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12- Top 10 categories by Order Volume</a:t>
            </a:r>
          </a:p>
          <a:p>
            <a:endParaRPr lang="en-US" sz="1600" dirty="0"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c.category,count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(*) as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Total_orders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from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join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dim_category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conc.category_id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=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f.category_id</a:t>
            </a:r>
            <a:endParaRPr lang="en-US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group by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c.category</a:t>
            </a:r>
            <a:endParaRPr lang="en-US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count(*) desc limit 10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F1CCBE-4844-4C16-1268-695D100A3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244" y="214814"/>
            <a:ext cx="3873127" cy="16575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D6918F-3D76-C373-EE96-D44C9FA0567B}"/>
              </a:ext>
            </a:extLst>
          </p:cNvPr>
          <p:cNvSpPr txBox="1"/>
          <p:nvPr/>
        </p:nvSpPr>
        <p:spPr>
          <a:xfrm>
            <a:off x="326569" y="1978300"/>
            <a:ext cx="1129937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13-Most Ordered Dishes</a:t>
            </a:r>
          </a:p>
          <a:p>
            <a:endParaRPr lang="en-IN" sz="1600" dirty="0"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d.dish_name,count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(*) as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Order_count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from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join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dim_dish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dond.dish_id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=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f.dish_id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group by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d.dish_name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Order_count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desc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  <a:p>
            <a:endParaRPr lang="en-IN" sz="1600" dirty="0">
              <a:latin typeface="Bahnschrift SemiBold" panose="020B0502040204020203" pitchFamily="34" charset="0"/>
            </a:endParaRPr>
          </a:p>
          <a:p>
            <a:r>
              <a:rPr lang="en-IN" dirty="0">
                <a:latin typeface="Bahnschrift SemiBold" panose="020B0502040204020203" pitchFamily="34" charset="0"/>
              </a:rPr>
              <a:t>14-Cuisine Performance (Orders + </a:t>
            </a:r>
            <a:r>
              <a:rPr lang="en-IN" dirty="0" err="1">
                <a:latin typeface="Bahnschrift SemiBold" panose="020B0502040204020203" pitchFamily="34" charset="0"/>
              </a:rPr>
              <a:t>Avg</a:t>
            </a:r>
            <a:r>
              <a:rPr lang="en-IN" dirty="0">
                <a:latin typeface="Bahnschrift SemiBold" panose="020B0502040204020203" pitchFamily="34" charset="0"/>
              </a:rPr>
              <a:t> Rating)</a:t>
            </a:r>
          </a:p>
          <a:p>
            <a:endParaRPr lang="en-IN" sz="1600" dirty="0"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c.category,count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(*) as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round(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avg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(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f.rating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),2) as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avg_ratingfrom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</a:p>
          <a:p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f</a:t>
            </a: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join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dim_category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c on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f.category_id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=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c.category_id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group by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c.category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Total_Orders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  <a:r>
              <a:rPr lang="en-IN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desc</a:t>
            </a:r>
            <a:r>
              <a:rPr lang="en-IN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0642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9F1C0F-92F0-6941-660D-6C7A3553DFE4}"/>
              </a:ext>
            </a:extLst>
          </p:cNvPr>
          <p:cNvSpPr txBox="1"/>
          <p:nvPr/>
        </p:nvSpPr>
        <p:spPr>
          <a:xfrm>
            <a:off x="293915" y="217715"/>
            <a:ext cx="6934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15-Total Orders by Price Range</a:t>
            </a:r>
          </a:p>
          <a:p>
            <a:endParaRPr lang="en-US" sz="1600" dirty="0"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 CASE   WHEN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::FLOAT &lt; 100 THEN 'Under 100’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WHEN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::FLOAT BETWEEN 100 AND 199 THEN '100-199’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WHEN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::FLOAT BETWEEN 200 AND 299 THEN '200-299'       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WHEN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::FLOAT BETWEEN 300 AND 499 THEN '300-499'      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ELSE '500+'    END AS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price_range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,   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COUNT(*) AS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total_ordersFROM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endParaRPr lang="en-US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GROUP BY  CASE   WHEN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::FLOAT &lt; 100 THEN 'Under 100'       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WHEN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::FLOAT BETWEEN 100 AND 199 THEN '100-199'       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WHEN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::FLOAT BETWEEN 200 AND 299 THEN '200-299'      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WHEN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price_inr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::FLOAT BETWEEN 300 AND 499 THEN '300-499'      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ELSE '500+'   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END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total_orders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 DESC;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E2E013-D1DC-ECD6-2E92-B4134AE96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244" y="542010"/>
            <a:ext cx="3971585" cy="27781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2D98C3-B731-3622-0A44-7CFFE3FF1D9C}"/>
              </a:ext>
            </a:extLst>
          </p:cNvPr>
          <p:cNvSpPr txBox="1"/>
          <p:nvPr/>
        </p:nvSpPr>
        <p:spPr>
          <a:xfrm>
            <a:off x="293911" y="4125685"/>
            <a:ext cx="497477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16-Rating Count Distribution</a:t>
            </a:r>
          </a:p>
          <a:p>
            <a:endParaRPr lang="en-US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select rating,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count(*) as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rating_count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			  from </a:t>
            </a:r>
            <a:r>
              <a:rPr lang="en-US" sz="1600" dirty="0" err="1">
                <a:solidFill>
                  <a:schemeClr val="accent2"/>
                </a:solidFill>
                <a:latin typeface="Bahnschrift SemiBold" panose="020B0502040204020203" pitchFamily="34" charset="0"/>
              </a:rPr>
              <a:t>fact_swiggy_orders</a:t>
            </a:r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			  group by rating			 </a:t>
            </a:r>
          </a:p>
          <a:p>
            <a:r>
              <a:rPr lang="en-US" sz="1600" dirty="0">
                <a:solidFill>
                  <a:schemeClr val="accent2"/>
                </a:solidFill>
                <a:latin typeface="Bahnschrift SemiBold" panose="020B0502040204020203" pitchFamily="34" charset="0"/>
              </a:rPr>
              <a:t>order by rating</a:t>
            </a:r>
            <a:endParaRPr lang="en-IN" sz="16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17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1004</Words>
  <Application>Microsoft Office PowerPoint</Application>
  <PresentationFormat>Widescreen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arjun thakur</dc:creator>
  <cp:lastModifiedBy>arjun thakur</cp:lastModifiedBy>
  <cp:revision>2</cp:revision>
  <dcterms:created xsi:type="dcterms:W3CDTF">2026-06-28T18:25:29Z</dcterms:created>
  <dcterms:modified xsi:type="dcterms:W3CDTF">2026-06-28T19:43:26Z</dcterms:modified>
</cp:coreProperties>
</file>